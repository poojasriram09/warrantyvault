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4" r:id="rId14"/>
  </p:sldIdLst>
  <p:sldSz cx="18288000" cy="10287000"/>
  <p:notesSz cx="6858000" cy="9144000"/>
  <p:embeddedFontLst>
    <p:embeddedFont>
      <p:font typeface="Cabin Bold" charset="1" panose="00000800000000000000"/>
      <p:regular r:id="rId15"/>
    </p:embeddedFont>
    <p:embeddedFont>
      <p:font typeface="Norwester" charset="1" panose="00000506000000000000"/>
      <p:regular r:id="rId16"/>
    </p:embeddedFont>
    <p:embeddedFont>
      <p:font typeface="Montserrat Bold" charset="1" panose="00000800000000000000"/>
      <p:regular r:id="rId17"/>
    </p:embeddedFont>
    <p:embeddedFont>
      <p:font typeface="League Spartan" charset="1" panose="00000800000000000000"/>
      <p:regular r:id="rId18"/>
    </p:embeddedFont>
    <p:embeddedFont>
      <p:font typeface="Agrandir Grand Bold" charset="1" panose="00000807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036" y="1842364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99586" y="345919"/>
            <a:ext cx="1404566" cy="1365552"/>
            <a:chOff x="0" y="0"/>
            <a:chExt cx="1872755" cy="18207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2742" cy="1820799"/>
            </a:xfrm>
            <a:custGeom>
              <a:avLst/>
              <a:gdLst/>
              <a:ahLst/>
              <a:cxnLst/>
              <a:rect r="r" b="b" t="t" l="l"/>
              <a:pathLst>
                <a:path h="1820799" w="1872742">
                  <a:moveTo>
                    <a:pt x="0" y="0"/>
                  </a:moveTo>
                  <a:lnTo>
                    <a:pt x="1872742" y="0"/>
                  </a:lnTo>
                  <a:lnTo>
                    <a:pt x="1872742" y="1820799"/>
                  </a:lnTo>
                  <a:lnTo>
                    <a:pt x="0" y="1820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08324" y="405241"/>
            <a:ext cx="1201093" cy="1201093"/>
            <a:chOff x="0" y="0"/>
            <a:chExt cx="1601457" cy="16014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1470" cy="1601470"/>
            </a:xfrm>
            <a:custGeom>
              <a:avLst/>
              <a:gdLst/>
              <a:ahLst/>
              <a:cxnLst/>
              <a:rect r="r" b="b" t="t" l="l"/>
              <a:pathLst>
                <a:path h="1601470" w="1601470">
                  <a:moveTo>
                    <a:pt x="0" y="0"/>
                  </a:moveTo>
                  <a:lnTo>
                    <a:pt x="1601470" y="0"/>
                  </a:lnTo>
                  <a:lnTo>
                    <a:pt x="1601470" y="1601470"/>
                  </a:lnTo>
                  <a:lnTo>
                    <a:pt x="0" y="1601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152120" y="507635"/>
            <a:ext cx="7744292" cy="55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b="true" sz="1452" spc="2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  DATTA MEGHE COLLEGE OF ENGINEERING, AIROLI</a:t>
            </a:r>
          </a:p>
          <a:p>
            <a:pPr algn="ctr">
              <a:lnSpc>
                <a:spcPts val="2313"/>
              </a:lnSpc>
            </a:pPr>
            <a:r>
              <a:rPr lang="en-US" b="true" sz="1651" spc="228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DEPARTMENT OF ARTIFICIAL INTELLIGENCE &amp; DATA SCIENCE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59738" y="1053046"/>
            <a:ext cx="8816912" cy="31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b="true" sz="1651" spc="228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STUDENT HIVE OF ARTIFICIAL INTELLIGENCE &amp; DATA SCIENCE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344123" y="2984902"/>
            <a:ext cx="11599755" cy="3544929"/>
            <a:chOff x="0" y="0"/>
            <a:chExt cx="15466339" cy="472657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3484804" y="3854704"/>
              <a:ext cx="7856258" cy="482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56"/>
                </a:lnSpc>
              </a:pPr>
              <a:r>
                <a:rPr lang="en-US" sz="2945" spc="957">
                  <a:solidFill>
                    <a:srgbClr val="FFFFFF"/>
                  </a:solidFill>
                  <a:latin typeface="Norwester"/>
                  <a:ea typeface="Norwester"/>
                  <a:cs typeface="Norwester"/>
                  <a:sym typeface="Norwester"/>
                </a:rPr>
                <a:t>THE HEIST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1371282" y="588861"/>
              <a:ext cx="9839452" cy="1717434"/>
            </a:xfrm>
            <a:custGeom>
              <a:avLst/>
              <a:gdLst/>
              <a:ahLst/>
              <a:cxnLst/>
              <a:rect r="r" b="b" t="t" l="l"/>
              <a:pathLst>
                <a:path h="1717434" w="9839452">
                  <a:moveTo>
                    <a:pt x="0" y="0"/>
                  </a:moveTo>
                  <a:lnTo>
                    <a:pt x="9839452" y="0"/>
                  </a:lnTo>
                  <a:lnTo>
                    <a:pt x="9839452" y="1717434"/>
                  </a:lnTo>
                  <a:lnTo>
                    <a:pt x="0" y="171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-269" r="0" b="-268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854253"/>
              <a:ext cx="3104820" cy="3590023"/>
            </a:xfrm>
            <a:custGeom>
              <a:avLst/>
              <a:gdLst/>
              <a:ahLst/>
              <a:cxnLst/>
              <a:rect r="r" b="b" t="t" l="l"/>
              <a:pathLst>
                <a:path h="3590023" w="3104820">
                  <a:moveTo>
                    <a:pt x="0" y="0"/>
                  </a:moveTo>
                  <a:lnTo>
                    <a:pt x="3104820" y="0"/>
                  </a:lnTo>
                  <a:lnTo>
                    <a:pt x="3104820" y="3590023"/>
                  </a:lnTo>
                  <a:lnTo>
                    <a:pt x="0" y="3590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840852" y="-114300"/>
              <a:ext cx="4968100" cy="1467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585"/>
                </a:lnSpc>
              </a:pPr>
              <a:r>
                <a:rPr lang="en-US" sz="6131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SHAIDS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244545" y="1243000"/>
              <a:ext cx="8425599" cy="2977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109"/>
                </a:lnSpc>
              </a:pPr>
              <a:r>
                <a:rPr lang="en-US" b="true" sz="12220" spc="-3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ackHive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10032" y="1214425"/>
              <a:ext cx="2284755" cy="35121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537"/>
                </a:lnSpc>
              </a:pPr>
              <a:r>
                <a:rPr lang="en-US" sz="14669" b="tru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1670144" y="1243000"/>
              <a:ext cx="3796195" cy="2977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109"/>
                </a:lnSpc>
              </a:pPr>
              <a:r>
                <a:rPr lang="en-US" sz="12220" spc="-3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2.0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7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14">
              <a:alphaModFix amt="7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01432" y="7304932"/>
            <a:ext cx="10653998" cy="2278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sz="2800">
                <a:solidFill>
                  <a:srgbClr val="FFFFFF"/>
                </a:solidFill>
              </a:rPr>
              <a:t>TEAM NAME - TrioCoders</a:t>
            </a:r>
          </a:p>
          <a:p>
            <a:r>
              <a:rPr sz="2800">
                <a:solidFill>
                  <a:srgbClr val="FFFFFF"/>
                </a:solidFill>
              </a:rPr>
              <a:t>DOMAIN - AI / Web Development</a:t>
            </a:r>
          </a:p>
          <a:p>
            <a:r>
              <a:rPr sz="2800">
                <a:solidFill>
                  <a:srgbClr val="FFFFFF"/>
                </a:solidFill>
              </a:rPr>
              <a:t>PROBLEM STATEMENT - Digital Product Warranty Management System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31" t="0" r="-129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036" y="1842364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605720" y="549345"/>
            <a:ext cx="7097554" cy="89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</a:pPr>
            <a:r>
              <a:rPr lang="en-US" sz="449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022149"/>
            <a:ext cx="13677900" cy="14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sz="2200">
                <a:solidFill>
                  <a:srgbClr val="FFFFFF"/>
                </a:solidFill>
              </a:rPr>
              <a:t>• Indians lose over ₹15,000 crore/year on unclaimed warranties</a:t>
            </a:r>
          </a:p>
          <a:p>
            <a:r>
              <a:rPr sz="2200">
                <a:solidFill>
                  <a:srgbClr val="FFFFFF"/>
                </a:solidFill>
              </a:rPr>
              <a:t>• Paper receipts fade, get lost, or are forgotten in drawers</a:t>
            </a:r>
          </a:p>
          <a:p>
            <a:r>
              <a:rPr sz="2200">
                <a:solidFill>
                  <a:srgbClr val="FFFFFF"/>
                </a:solidFill>
              </a:rPr>
              <a:t>• Warranty emails get buried — no centralized tracking exists</a:t>
            </a:r>
          </a:p>
          <a:p>
            <a:r>
              <a:rPr sz="2200">
                <a:solidFill>
                  <a:srgbClr val="FFFFFF"/>
                </a:solidFill>
              </a:rPr>
              <a:t>• Users don't know WHEN warranties expire until it's too late</a:t>
            </a:r>
          </a:p>
          <a:p>
            <a:r>
              <a:rPr sz="2200">
                <a:solidFill>
                  <a:srgbClr val="FFFFFF"/>
                </a:solidFill>
              </a:rPr>
              <a:t>• Filing claims is confusing — unclear process, unknown service centers</a:t>
            </a:r>
          </a:p>
          <a:p>
            <a:r>
              <a:rPr sz="2200">
                <a:solidFill>
                  <a:srgbClr val="FFFFFF"/>
                </a:solidFill>
              </a:rPr>
              <a:t>• No existing solution handles the full warranty lifecycle</a:t>
            </a:r>
          </a:p>
          <a:p>
            <a:r>
              <a:rPr sz="2200">
                <a:solidFill>
                  <a:srgbClr val="FFFFFF"/>
                </a:solidFill>
              </a:rPr>
              <a:t/>
            </a:r>
          </a:p>
          <a:p>
            <a:r>
              <a:rPr sz="2200">
                <a:solidFill>
                  <a:srgbClr val="FFFFFF"/>
                </a:solidFill>
              </a:rPr>
              <a:t>Target Users: Every Indian consumer who buys electronics,</a:t>
            </a:r>
          </a:p>
          <a:p>
            <a:r>
              <a:rPr sz="2200">
                <a:solidFill>
                  <a:srgbClr val="FFFFFF"/>
                </a:solidFill>
              </a:rPr>
              <a:t>appliances, or gadgets — 500M+ potential users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036" y="1842364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88949" y="531562"/>
            <a:ext cx="13331104" cy="90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</a:pPr>
            <a:r>
              <a:rPr lang="en-US" sz="4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PROPOSED SOLUTION AND UNIQUE FEATURE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022149"/>
            <a:ext cx="11391900" cy="208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sz="1800">
                <a:solidFill>
                  <a:srgbClr val="FFFFFF"/>
                </a:solidFill>
              </a:rPr>
              <a:t>WarrantyVault — AI-powered warranty management platform</a:t>
            </a:r>
          </a:p>
          <a:p>
            <a:r>
              <a:rPr sz="1800">
                <a:solidFill>
                  <a:srgbClr val="FFFFFF"/>
                </a:solidFill>
              </a:rPr>
              <a:t/>
            </a:r>
          </a:p>
          <a:p>
            <a:r>
              <a:rPr sz="1800">
                <a:solidFill>
                  <a:srgbClr val="FFFFFF"/>
                </a:solidFill>
              </a:rPr>
              <a:t>• AI OCR Scanner — Upload any receipt (printed/handwritten/PDF).</a:t>
            </a:r>
          </a:p>
          <a:p>
            <a:r>
              <a:rPr sz="1800">
                <a:solidFill>
                  <a:srgbClr val="FFFFFF"/>
                </a:solidFill>
              </a:rPr>
              <a:t>  Llama 4 Scout Vision extracts all product details automatically</a:t>
            </a:r>
          </a:p>
          <a:p>
            <a:r>
              <a:rPr sz="1800">
                <a:solidFill>
                  <a:srgbClr val="FFFFFF"/>
                </a:solidFill>
              </a:rPr>
              <a:t>• Smart Expiry Alerts — Email reminders at 30 &amp; 7 days before</a:t>
            </a:r>
          </a:p>
          <a:p>
            <a:r>
              <a:rPr sz="1800">
                <a:solidFill>
                  <a:srgbClr val="FFFFFF"/>
                </a:solidFill>
              </a:rPr>
              <a:t>  expiry + real-time push notifications via Supabase</a:t>
            </a:r>
          </a:p>
          <a:p>
            <a:r>
              <a:rPr sz="1800">
                <a:solidFill>
                  <a:srgbClr val="FFFFFF"/>
                </a:solidFill>
              </a:rPr>
              <a:t>• AI Claim Assistant — Step-by-step wizard to file warranty claims</a:t>
            </a:r>
          </a:p>
          <a:p>
            <a:r>
              <a:rPr sz="1800">
                <a:solidFill>
                  <a:srgbClr val="FFFFFF"/>
                </a:solidFill>
              </a:rPr>
              <a:t>  with AI tips to maximize success rate</a:t>
            </a:r>
          </a:p>
          <a:p>
            <a:r>
              <a:rPr sz="1800">
                <a:solidFill>
                  <a:srgbClr val="FFFFFF"/>
                </a:solidFill>
              </a:rPr>
              <a:t>• AI Chatbot — Llama 3.3 70B assistant that knows your entire</a:t>
            </a:r>
          </a:p>
          <a:p>
            <a:r>
              <a:rPr sz="1800">
                <a:solidFill>
                  <a:srgbClr val="FFFFFF"/>
                </a:solidFill>
              </a:rPr>
              <a:t>  warranty portfolio and gives personalized advice</a:t>
            </a:r>
          </a:p>
          <a:p>
            <a:r>
              <a:rPr sz="1800">
                <a:solidFill>
                  <a:srgbClr val="FFFFFF"/>
                </a:solidFill>
              </a:rPr>
              <a:t>• Service Center Finder — Interactive map with 20+ Indian cities</a:t>
            </a:r>
          </a:p>
          <a:p>
            <a:r>
              <a:rPr sz="1800">
                <a:solidFill>
                  <a:srgbClr val="FFFFFF"/>
                </a:solidFill>
              </a:rPr>
              <a:t>• Digital Document Locker — Secure cloud storage for receipts</a:t>
            </a:r>
          </a:p>
          <a:p>
            <a:r>
              <a:rPr sz="1800">
                <a:solidFill>
                  <a:srgbClr val="FFFFFF"/>
                </a:solidFill>
              </a:rPr>
              <a:t>• Admin Dashboard — Full analytics, user &amp; claim management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34556" y="1866900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3"/>
                </a:lnTo>
                <a:lnTo>
                  <a:pt x="0" y="6602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57957" y="556965"/>
            <a:ext cx="11993089" cy="89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</a:pPr>
            <a:r>
              <a:rPr lang="en-US" sz="449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APPROACH &amp; WORKFLOW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1259" y="3022149"/>
            <a:ext cx="12027941" cy="14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sz="1800">
                <a:solidFill>
                  <a:srgbClr val="FFFFFF"/>
                </a:solidFill>
              </a:rPr>
              <a:t>Tech Stack:</a:t>
            </a:r>
          </a:p>
          <a:p>
            <a:r>
              <a:rPr sz="1800">
                <a:solidFill>
                  <a:srgbClr val="FFFFFF"/>
                </a:solidFill>
              </a:rPr>
              <a:t>• Frontend: React 19 + Tailwind CSS v4 + Vite 7</a:t>
            </a:r>
          </a:p>
          <a:p>
            <a:r>
              <a:rPr sz="1800">
                <a:solidFill>
                  <a:srgbClr val="FFFFFF"/>
                </a:solidFill>
              </a:rPr>
              <a:t>• Backend/DB: Supabase (PostgreSQL + Auth + Realtime + Storage)</a:t>
            </a:r>
          </a:p>
          <a:p>
            <a:r>
              <a:rPr sz="1800">
                <a:solidFill>
                  <a:srgbClr val="FFFFFF"/>
                </a:solidFill>
              </a:rPr>
              <a:t>• AI/OCR: Groq API (Llama 4 Scout Vision + Llama 3.3 70B)</a:t>
            </a:r>
          </a:p>
          <a:p>
            <a:r>
              <a:rPr sz="1800">
                <a:solidFill>
                  <a:srgbClr val="FFFFFF"/>
                </a:solidFill>
              </a:rPr>
              <a:t>• Fallback OCR: Tesseract.js + pdfjs-dist for PDF text extraction</a:t>
            </a:r>
          </a:p>
          <a:p>
            <a:r>
              <a:rPr sz="1800">
                <a:solidFill>
                  <a:srgbClr val="FFFFFF"/>
                </a:solidFill>
              </a:rPr>
              <a:t>• Auth: Firebase Authentication (Google Sign-In)</a:t>
            </a:r>
          </a:p>
          <a:p>
            <a:r>
              <a:rPr sz="1800">
                <a:solidFill>
                  <a:srgbClr val="FFFFFF"/>
                </a:solidFill>
              </a:rPr>
              <a:t>• State: Zustand | Charts: Recharts | Maps: React-Leaflet</a:t>
            </a:r>
          </a:p>
          <a:p>
            <a:r>
              <a:rPr sz="1800">
                <a:solidFill>
                  <a:srgbClr val="FFFFFF"/>
                </a:solidFill>
              </a:rPr>
              <a:t>• Notifications: EmailJS + Supabase Realtime subscriptions</a:t>
            </a:r>
          </a:p>
          <a:p>
            <a:r>
              <a:rPr sz="1800">
                <a:solidFill>
                  <a:srgbClr val="FFFFFF"/>
                </a:solidFill>
              </a:rPr>
              <a:t/>
            </a:r>
          </a:p>
          <a:p>
            <a:r>
              <a:rPr sz="1800">
                <a:solidFill>
                  <a:srgbClr val="FFFFFF"/>
                </a:solidFill>
              </a:rPr>
              <a:t>Workflow:</a:t>
            </a:r>
          </a:p>
          <a:p>
            <a:r>
              <a:rPr sz="1800">
                <a:solidFill>
                  <a:srgbClr val="FFFFFF"/>
                </a:solidFill>
              </a:rPr>
              <a:t>Upload Receipt → AI OCR extracts data → Auto-create warranty</a:t>
            </a:r>
          </a:p>
          <a:p>
            <a:r>
              <a:rPr sz="1800">
                <a:solidFill>
                  <a:srgbClr val="FFFFFF"/>
                </a:solidFill>
              </a:rPr>
              <a:t>record → Track on dashboard → Get expiry alerts → File claim</a:t>
            </a:r>
          </a:p>
          <a:p>
            <a:r>
              <a:rPr sz="1800">
                <a:solidFill>
                  <a:srgbClr val="FFFFFF"/>
                </a:solidFill>
              </a:rPr>
              <a:t>via AI assistant → Find nearest service center on map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036" y="1842364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63692" y="566661"/>
            <a:ext cx="10560615" cy="84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</a:pPr>
            <a:r>
              <a:rPr lang="en-US" sz="449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FEASIBILITY AND VIABILITY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1259" y="3022149"/>
            <a:ext cx="14930933" cy="14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sz="1800">
                <a:solidFill>
                  <a:srgbClr val="FFFFFF"/>
                </a:solidFill>
              </a:rPr>
              <a:t>Implementation:</a:t>
            </a:r>
          </a:p>
          <a:p>
            <a:r>
              <a:rPr sz="1800">
                <a:solidFill>
                  <a:srgbClr val="FFFFFF"/>
                </a:solidFill>
              </a:rPr>
              <a:t>• Fully functional web app — live and working today</a:t>
            </a:r>
          </a:p>
          <a:p>
            <a:r>
              <a:rPr sz="1800">
                <a:solidFill>
                  <a:srgbClr val="FFFFFF"/>
                </a:solidFill>
              </a:rPr>
              <a:t>• Built entirely on free-tier services (Supabase, Groq, Firebase)</a:t>
            </a:r>
          </a:p>
          <a:p>
            <a:r>
              <a:rPr sz="1800">
                <a:solidFill>
                  <a:srgbClr val="FFFFFF"/>
                </a:solidFill>
              </a:rPr>
              <a:t>• Groq API provides free, fast AI inference — no GPU costs</a:t>
            </a:r>
          </a:p>
          <a:p>
            <a:r>
              <a:rPr sz="1800">
                <a:solidFill>
                  <a:srgbClr val="FFFFFF"/>
                </a:solidFill>
              </a:rPr>
              <a:t>• Supabase handles auth, database, storage &amp; realtime in one</a:t>
            </a:r>
          </a:p>
          <a:p>
            <a:r>
              <a:rPr sz="1800">
                <a:solidFill>
                  <a:srgbClr val="FFFFFF"/>
                </a:solidFill>
              </a:rPr>
              <a:t>• Scales from 0 to 100K users without architecture changes</a:t>
            </a:r>
          </a:p>
          <a:p>
            <a:r>
              <a:rPr sz="1800">
                <a:solidFill>
                  <a:srgbClr val="FFFFFF"/>
                </a:solidFill>
              </a:rPr>
              <a:t/>
            </a:r>
          </a:p>
          <a:p>
            <a:r>
              <a:rPr sz="1800">
                <a:solidFill>
                  <a:srgbClr val="FFFFFF"/>
                </a:solidFill>
              </a:rPr>
              <a:t>Sustainability:</a:t>
            </a:r>
          </a:p>
          <a:p>
            <a:r>
              <a:rPr sz="1800">
                <a:solidFill>
                  <a:srgbClr val="FFFFFF"/>
                </a:solidFill>
              </a:rPr>
              <a:t>• Lightweight React SPA — deploys on Vercel/Netlify for free</a:t>
            </a:r>
          </a:p>
          <a:p>
            <a:r>
              <a:rPr sz="1800">
                <a:solidFill>
                  <a:srgbClr val="FFFFFF"/>
                </a:solidFill>
              </a:rPr>
              <a:t>• AI costs scale linearly with generous free-tier limits</a:t>
            </a:r>
          </a:p>
          <a:p>
            <a:r>
              <a:rPr sz="1800">
                <a:solidFill>
                  <a:srgbClr val="FFFFFF"/>
                </a:solidFill>
              </a:rPr>
              <a:t>• No complex backend server — Supabase replaces entire API layer</a:t>
            </a:r>
          </a:p>
          <a:p>
            <a:r>
              <a:rPr sz="1800">
                <a:solidFill>
                  <a:srgbClr val="FFFFFF"/>
                </a:solidFill>
              </a:rPr>
              <a:t>• Can be extended to mobile (React Native) &amp; desktop (PWA)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036" y="1842364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63692" y="604761"/>
            <a:ext cx="10560615" cy="85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</a:pPr>
            <a:r>
              <a:rPr lang="en-US" sz="4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1259" y="3022149"/>
            <a:ext cx="16142741" cy="27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sz="1800">
                <a:solidFill>
                  <a:srgbClr val="FFFFFF"/>
                </a:solidFill>
              </a:rPr>
              <a:t>Target Users &amp; Value:</a:t>
            </a:r>
          </a:p>
          <a:p>
            <a:r>
              <a:rPr sz="1800">
                <a:solidFill>
                  <a:srgbClr val="FFFFFF"/>
                </a:solidFill>
              </a:rPr>
              <a:t>• Primary: Indian consumers (18-45) buying electronics/appliances</a:t>
            </a:r>
          </a:p>
          <a:p>
            <a:r>
              <a:rPr sz="1800">
                <a:solidFill>
                  <a:srgbClr val="FFFFFF"/>
                </a:solidFill>
              </a:rPr>
              <a:t>• Secondary: Small businesses managing bulk warranties</a:t>
            </a:r>
          </a:p>
          <a:p>
            <a:r>
              <a:rPr sz="1800">
                <a:solidFill>
                  <a:srgbClr val="FFFFFF"/>
                </a:solidFill>
              </a:rPr>
              <a:t>• Value: Save ₹5,000-15,000/year per family in unclaimed warranties</a:t>
            </a:r>
          </a:p>
          <a:p>
            <a:r>
              <a:rPr sz="1800">
                <a:solidFill>
                  <a:srgbClr val="FFFFFF"/>
                </a:solidFill>
              </a:rPr>
              <a:t/>
            </a:r>
          </a:p>
          <a:p>
            <a:r>
              <a:rPr sz="1800">
                <a:solidFill>
                  <a:srgbClr val="FFFFFF"/>
                </a:solidFill>
              </a:rPr>
              <a:t>Revenue Model:</a:t>
            </a:r>
          </a:p>
          <a:p>
            <a:r>
              <a:rPr sz="1800">
                <a:solidFill>
                  <a:srgbClr val="FFFFFF"/>
                </a:solidFill>
              </a:rPr>
              <a:t>• Freemium — Free for 10 products, Pro plan for unlimited</a:t>
            </a:r>
          </a:p>
          <a:p>
            <a:r>
              <a:rPr sz="1800">
                <a:solidFill>
                  <a:srgbClr val="FFFFFF"/>
                </a:solidFill>
              </a:rPr>
              <a:t>• B2B — Brands integrate WarrantyVault at point of sale for</a:t>
            </a:r>
          </a:p>
          <a:p>
            <a:r>
              <a:rPr sz="1800">
                <a:solidFill>
                  <a:srgbClr val="FFFFFF"/>
                </a:solidFill>
              </a:rPr>
              <a:t>  automatic warranty registration</a:t>
            </a:r>
          </a:p>
          <a:p>
            <a:r>
              <a:rPr sz="1800">
                <a:solidFill>
                  <a:srgbClr val="FFFFFF"/>
                </a:solidFill>
              </a:rPr>
              <a:t>• Extended Warranty Marketplace — Commission from connecting</a:t>
            </a:r>
          </a:p>
          <a:p>
            <a:r>
              <a:rPr sz="1800">
                <a:solidFill>
                  <a:srgbClr val="FFFFFF"/>
                </a:solidFill>
              </a:rPr>
              <a:t>  users with extended warranty providers</a:t>
            </a:r>
          </a:p>
          <a:p>
            <a:r>
              <a:rPr sz="1800">
                <a:solidFill>
                  <a:srgbClr val="FFFFFF"/>
                </a:solidFill>
              </a:rPr>
              <a:t>• Affiliate — Service center referrals &amp; repair bookings</a:t>
            </a:r>
          </a:p>
          <a:p>
            <a:r>
              <a:rPr sz="1800">
                <a:solidFill>
                  <a:srgbClr val="FFFFFF"/>
                </a:solidFill>
              </a:rPr>
              <a:t/>
            </a:r>
          </a:p>
          <a:p>
            <a:r>
              <a:rPr sz="1800">
                <a:solidFill>
                  <a:srgbClr val="FFFFFF"/>
                </a:solidFill>
              </a:rPr>
              <a:t>Market: Indian consumer electronics — ₹3+ lakh crore market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71798" y="2101001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31227" y="5829300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54121" y="2522315"/>
            <a:ext cx="12637627" cy="518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9"/>
              </a:lnSpc>
            </a:pPr>
            <a:r>
              <a:rPr lang="en-US" sz="9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LIVE DEMONSTRATION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80530" y="961139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2" y="0"/>
                </a:lnTo>
                <a:lnTo>
                  <a:pt x="6602272" y="6602273"/>
                </a:lnTo>
                <a:lnTo>
                  <a:pt x="0" y="6602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63692" y="566661"/>
            <a:ext cx="10560615" cy="84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</a:pPr>
            <a:r>
              <a:rPr lang="en-US" sz="449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RULES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0629" y="2603568"/>
            <a:ext cx="17666741" cy="619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6462" indent="-248821" lvl="2">
              <a:lnSpc>
                <a:spcPts val="6643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NOT CHANGE THE SLIDE SEQUENCE.</a:t>
            </a:r>
          </a:p>
          <a:p>
            <a:pPr algn="l" marL="746462" indent="-248821" lvl="2">
              <a:lnSpc>
                <a:spcPts val="6643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ADD DIAGRAMS WHEREVER NECESSARY.</a:t>
            </a:r>
          </a:p>
          <a:p>
            <a:pPr algn="l" marL="746462" indent="-248821" lvl="2">
              <a:lnSpc>
                <a:spcPts val="6643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TEAMS MUST PRESENT A LIVE WORKING DEMONSTRATION OF THEIR SOLUTION WITHIN THE ALLOCATED TIME.</a:t>
            </a:r>
          </a:p>
          <a:p>
            <a:pPr algn="l" marL="746462" indent="-248821" lvl="2">
              <a:lnSpc>
                <a:spcPts val="6643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KEEP THE PRESENTATION LIMITED TO A MAXIMUM OF 7 SLIDES.</a:t>
            </a:r>
          </a:p>
          <a:p>
            <a:pPr algn="l" marL="746462" indent="-248821" lvl="2">
              <a:lnSpc>
                <a:spcPts val="6643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 BULLET POINTS INSTEAD OF PARAGRAPHS.</a:t>
            </a:r>
          </a:p>
          <a:p>
            <a:pPr algn="l" marL="746462" indent="-248821" lvl="2">
              <a:lnSpc>
                <a:spcPts val="6643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DELETE THIS SLIDE BEFORE SUBMISSION.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036" y="1842364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79241" y="4029285"/>
            <a:ext cx="14129509" cy="207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01"/>
              </a:lnSpc>
            </a:pPr>
            <a:r>
              <a:rPr lang="en-US" sz="12710" b="true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THANK YOU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DAHDJ715bGo</dc:identifier>
  <dcterms:modified xsi:type="dcterms:W3CDTF">2011-08-01T06:04:30Z</dcterms:modified>
  <cp:revision>1</cp:revision>
  <dc:title>Pptx Template.pptx</dc:title>
</cp:coreProperties>
</file>